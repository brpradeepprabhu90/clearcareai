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discharge is broken, leading to dangerous gaps in care.</a:t>
            </a:r>
          </a:p>
          <a:p>
            <a:pPr lvl="1"/>
            <a:r>
              <a:t>• When patients leave the hospital, they are handed dense, jargon-filled paperwork.</a:t>
            </a:r>
          </a:p>
          <a:p>
            <a:pPr lvl="1"/>
            <a:r>
              <a:t>• Patients often lack the health literacy required to understand new medication regimens, dietary restrictions, and follow-up schedules.</a:t>
            </a:r>
          </a:p>
          <a:p>
            <a:pPr lvl="1"/>
            <a:r>
              <a:t>• This confusion results in fatal drug interactions, adverse drug events (ADEs), and preventable hospital readmissions.</a:t>
            </a:r>
          </a:p>
          <a:p>
            <a:pPr lvl="1"/>
            <a:r>
              <a:t>• The problem isn't a lack of medical care, but a lack of clinical communication at the critical transition point of discharge.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discharge transitions cost lives and billions of dollars.</a:t>
            </a:r>
          </a:p>
          <a:p>
            <a:pPr lvl="1"/>
            <a:r>
              <a:t>• Massive Financial Burden: 30-day hospital readmissions cost the U.S. healthcare system up to $52.4 billion annually (avg. $16,037 per readmission).</a:t>
            </a:r>
          </a:p>
          <a:p>
            <a:pPr lvl="1"/>
            <a:r>
              <a:t>• High Incidence Rates: The national 30-day all-cause readmission rate is between 13–14%.</a:t>
            </a:r>
          </a:p>
          <a:p>
            <a:pPr lvl="1"/>
            <a:r>
              <a:t>• Medication Errors: Medication discrepancies occur in roughly 50% of patients post-discharge, and ~19% experience an Adverse Drug Event (ADE).</a:t>
            </a:r>
          </a:p>
          <a:p>
            <a:pPr lvl="1"/>
            <a:r>
              <a:t>• Hospital Penalties: Under the CMS HRRP, hospitals face penalties of up to 3% of Medicare payments (totaling over $521 million recently).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- ClearCare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Decoding discharge for a safer recovery using Gemini 3.8 Flash.</a:t>
            </a:r>
          </a:p>
          <a:p>
            <a:pPr lvl="1"/>
            <a:r>
              <a:t>• Multi-Agent Processing: Three parallel AI agents (Safety, Explainer, Scheduler) process the PDF in memory simultaneously for maximum speed.</a:t>
            </a:r>
          </a:p>
          <a:p>
            <a:pPr lvl="1"/>
            <a:r>
              <a:t>• Deterministic Safety: A clinical rule engine runs alongside the LLM to guarantee zero-shot detection of severe drug interactions (e.g., NSAIDs + Heart Failure).</a:t>
            </a:r>
          </a:p>
          <a:p>
            <a:pPr lvl="1"/>
            <a:r>
              <a:t>• Health Literacy: Clinical jargon is programmatically rewritten into 6th-grade language (bilingual EN/ES), and strict daily medication schedules are automatically generated.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patient safety.</a:t>
            </a:r>
          </a:p>
          <a:p>
            <a:pPr lvl="1"/>
            <a:r>
              <a:t>• Direct EHR Integration: Transitioning from PDF uploads to direct FHIR API integration (Epic/Cerner) to fetch live patient charts natively.</a:t>
            </a:r>
          </a:p>
          <a:p>
            <a:pPr lvl="1"/>
            <a:r>
              <a:t>• Voice-Interactive Explainer: An autonomous voice agent patients can call from home to ask questions, powered by Google Cloud Speech-to-Text and Gemini.</a:t>
            </a:r>
          </a:p>
          <a:p>
            <a:pPr lvl="1"/>
            <a:r>
              <a:t>• Calendar Integration: A one-click export feature that syncs medication reminders and follow-up appointments directly to the patient's phone.</a:t>
            </a:r>
          </a:p>
          <a:p>
            <a:pPr lvl="1"/>
            <a:r>
              <a:t>• Pharmacist In-the-Loop Verification: A portal for clinical pharmacists to review and sign off on AI-generated safety flags before release to the patient.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